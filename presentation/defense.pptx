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64" r:id="rId2"/>
    <p:sldId id="259" r:id="rId3"/>
    <p:sldId id="269" r:id="rId4"/>
    <p:sldId id="262" r:id="rId5"/>
    <p:sldId id="270" r:id="rId6"/>
    <p:sldId id="263" r:id="rId7"/>
    <p:sldId id="265" r:id="rId8"/>
    <p:sldId id="273" r:id="rId9"/>
    <p:sldId id="272" r:id="rId10"/>
    <p:sldId id="256" r:id="rId11"/>
    <p:sldId id="274" r:id="rId12"/>
    <p:sldId id="257" r:id="rId13"/>
    <p:sldId id="275" r:id="rId14"/>
    <p:sldId id="271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79F3B-968D-B072-8E55-01E452A86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E872375-BFE6-FF66-9678-4AD6150D0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B16ABF-7F6E-A4D7-814B-2874223A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1A771B-BA0A-1F03-BF02-58750AA1C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F324F7-1F5F-3407-1514-D8644444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57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BC561E-E927-E94F-2005-44C1C798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45238E-E23B-DF05-DAD2-E02084BD5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96E223-742B-46A7-3F2B-507EBA01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93724B-A378-36EB-1AF6-80058AAB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D16414-B01D-EF9A-BE99-41858AD7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78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830DA7-ECC6-81B4-169A-89252A9AD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E704C2-AB7A-BA43-7CB6-6245292C2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57B56D-082C-E43B-7BB2-CCEF88A0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260523-D1B7-EECD-683C-7A122C1B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F3D386-60BB-9EEA-6B82-6B956B4A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426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B4E0ED-FAD2-98F2-D70D-26FF7C474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AEED3D-78D5-B701-BEDB-F15BD2E10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0A4825-6940-26FF-AD10-01C0D6D12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562A1A-118E-0ABF-4338-9FC1C590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557B4E-B2A8-1482-EBEB-F255EB07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E4DE7C-81F6-40FD-2DFA-E03A2AA5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7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AAC7F-97D6-0EF9-FEB4-ACBEAD2D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905AAC-F142-D923-BE29-5A96A81D7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746FC0-5EAF-3F22-CE25-1FEED1003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7EE2EA-806B-BA7F-7CAF-DE2F968AD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1A5E5F-B1EB-F163-1732-4E431B9F6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C975F92-7381-1F7F-2B73-112FE1F1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299DB66-3967-8695-7E0A-8781FCE7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59FB00-9857-C65B-278C-34BC1A05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476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EE2E4-6472-C7ED-7299-C27A3CB2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5EF442-4DDA-5697-E1E6-36D44781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7EDFF8-BDEC-9760-5905-FC675D7D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14CAA09-69FE-31AE-3B21-8E79E4E7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79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AFB7F3-1025-B00C-B526-299DF2F0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BB937DA-8261-6280-0176-28144057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92CE84-F2A8-E9F6-42B1-714D49D5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6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6718D-7089-ABFD-D852-341B99F0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D41C5A-E41C-1B21-726A-E1D36442D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648DA3-4344-1A0D-DA57-1E15D77DB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435D12-F2B6-312B-3D3B-818B7609F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287C17-4FBD-9F6F-A4B6-AD752057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AF7038-35C5-2DE3-6399-E3FB47570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6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A9D94-207C-599A-95D4-34F72C62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5BE70D3-5485-E128-28A2-29F7CDEB4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1D5187-F3E6-0821-F14B-F41F40AC4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C07970-66C1-6A86-3117-CC91B83F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099EF7-AB92-8951-3A54-1F02A95A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AD22EFE-E247-172C-7D4C-A8CF376A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795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5AF8ED-CCE9-BF89-6EBF-3B410C27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9DCD8D-05C3-5A11-112C-6007525FC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D6579D-2D59-3B86-FC6F-59EE0187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E8934-54C5-00FB-0408-2CBD21A1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E3F985-13AA-E590-32BB-18D20887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03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4253A23-F6E6-FB1B-CE54-5EACC1C92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CF18704-6CFF-BA71-FA9F-EC1A71278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93AB48-2763-DE09-69AC-89D54211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FC2218-0413-C3DD-8DA1-D8BE8B28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574D90-C48C-F8A2-9783-ED07DD89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349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391735D-588A-FAE0-8E21-9ED714369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C293C5-8E15-7D80-BA7A-A3ED3D5CE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6960ED-0E42-7769-BBAB-A7AFDCE7F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A848E-93F2-4701-AC23-F0DA46D079B4}" type="datetimeFigureOut">
              <a:rPr lang="de-DE" smtClean="0"/>
              <a:t>11.08.2024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F2F2CB-9891-875A-0426-3EE60C93A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1A88D6-A330-28F9-B9D2-3C44FE79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5549D-262A-4C0F-AB2D-0BAAA197DC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09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DE81803-5108-9B75-F71B-19FCE918D04F}"/>
              </a:ext>
            </a:extLst>
          </p:cNvPr>
          <p:cNvSpPr txBox="1"/>
          <p:nvPr/>
        </p:nvSpPr>
        <p:spPr>
          <a:xfrm>
            <a:off x="1391092" y="751344"/>
            <a:ext cx="94098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b="1" dirty="0" err="1"/>
              <a:t>Social</a:t>
            </a:r>
            <a:r>
              <a:rPr lang="de-DE" sz="2800" b="1" dirty="0"/>
              <a:t> Media Daten </a:t>
            </a:r>
          </a:p>
          <a:p>
            <a:pPr algn="ctr"/>
            <a:r>
              <a:rPr lang="de-DE" sz="2800" b="1" dirty="0"/>
              <a:t>– </a:t>
            </a:r>
          </a:p>
          <a:p>
            <a:pPr algn="ctr"/>
            <a:r>
              <a:rPr lang="de-DE" sz="2800" b="1" dirty="0"/>
              <a:t>Use Cases, Beschaffung und Speicherung</a:t>
            </a:r>
          </a:p>
          <a:p>
            <a:pPr algn="ctr"/>
            <a:r>
              <a:rPr lang="de-DE" sz="2800" b="1" dirty="0"/>
              <a:t>sowie praktische Umsetzung am Beispiel von Veröffentlichungen zum Themenfeld Wasser in den </a:t>
            </a:r>
          </a:p>
          <a:p>
            <a:pPr algn="ctr"/>
            <a:r>
              <a:rPr lang="de-DE" sz="2800" b="1" dirty="0"/>
              <a:t>Netzwerken </a:t>
            </a:r>
            <a:r>
              <a:rPr lang="de-DE" sz="2800" b="1" dirty="0" err="1"/>
              <a:t>BlueSky</a:t>
            </a:r>
            <a:r>
              <a:rPr lang="de-DE" sz="2800" b="1" dirty="0"/>
              <a:t> und Mastodon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DD3919F-F007-5941-77A6-85AC5B1A9E90}"/>
              </a:ext>
            </a:extLst>
          </p:cNvPr>
          <p:cNvSpPr txBox="1"/>
          <p:nvPr/>
        </p:nvSpPr>
        <p:spPr>
          <a:xfrm>
            <a:off x="478465" y="4493406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Bachelorarbeit</a:t>
            </a:r>
          </a:p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der FSU Jena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00B535C-477E-5201-558E-B13A5BB4B39B}"/>
              </a:ext>
            </a:extLst>
          </p:cNvPr>
          <p:cNvSpPr txBox="1"/>
          <p:nvPr/>
        </p:nvSpPr>
        <p:spPr>
          <a:xfrm>
            <a:off x="9833414" y="4493406"/>
            <a:ext cx="2011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12. August 2024</a:t>
            </a:r>
          </a:p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Von Julia Boden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CC52008A-FABB-CDE6-282E-B1CCF1B6FA57}"/>
              </a:ext>
            </a:extLst>
          </p:cNvPr>
          <p:cNvCxnSpPr>
            <a:cxnSpLocks/>
          </p:cNvCxnSpPr>
          <p:nvPr/>
        </p:nvCxnSpPr>
        <p:spPr>
          <a:xfrm>
            <a:off x="574158" y="4440243"/>
            <a:ext cx="111322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02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590148E9-1F75-6DF9-5C0E-C3B01AA095BF}"/>
              </a:ext>
            </a:extLst>
          </p:cNvPr>
          <p:cNvSpPr txBox="1"/>
          <p:nvPr/>
        </p:nvSpPr>
        <p:spPr>
          <a:xfrm>
            <a:off x="2991771" y="321216"/>
            <a:ext cx="5676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Use Cases für </a:t>
            </a:r>
            <a:r>
              <a:rPr lang="de-DE" sz="2800" b="1" dirty="0" err="1"/>
              <a:t>Social</a:t>
            </a:r>
            <a:r>
              <a:rPr lang="de-DE" sz="2800" b="1" dirty="0"/>
              <a:t> Media Daten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0038951-BD48-9052-246D-6E864EF0CBC5}"/>
              </a:ext>
            </a:extLst>
          </p:cNvPr>
          <p:cNvSpPr txBox="1"/>
          <p:nvPr/>
        </p:nvSpPr>
        <p:spPr>
          <a:xfrm>
            <a:off x="183411" y="844436"/>
            <a:ext cx="1135291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rial" panose="020B0604020202020204" pitchFamily="34" charset="0"/>
              </a:rPr>
              <a:t>- Review-Artikel: von Z</a:t>
            </a:r>
            <a:r>
              <a:rPr lang="da-DK" dirty="0">
                <a:effectLst/>
                <a:latin typeface="Arial" panose="020B0604020202020204" pitchFamily="34" charset="0"/>
              </a:rPr>
              <a:t>achlod, C. et al. (2022)</a:t>
            </a:r>
            <a:endParaRPr lang="de-DE" dirty="0">
              <a:effectLst/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dirty="0">
              <a:effectLst/>
              <a:latin typeface="Arial" panose="020B0604020202020204" pitchFamily="34" charset="0"/>
            </a:endParaRPr>
          </a:p>
          <a:p>
            <a:r>
              <a:rPr lang="de-DE" dirty="0">
                <a:effectLst/>
                <a:latin typeface="Arial" panose="020B0604020202020204" pitchFamily="34" charset="0"/>
              </a:rPr>
              <a:t>    </a:t>
            </a:r>
            <a:r>
              <a:rPr lang="de-DE" dirty="0"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dirty="0">
                <a:effectLst/>
                <a:latin typeface="Arial" panose="020B0604020202020204" pitchFamily="34" charset="0"/>
              </a:rPr>
              <a:t>94 Veröffentlichungen über </a:t>
            </a:r>
            <a:r>
              <a:rPr lang="de-DE" dirty="0" err="1">
                <a:effectLst/>
                <a:latin typeface="Arial" panose="020B0604020202020204" pitchFamily="34" charset="0"/>
              </a:rPr>
              <a:t>Social</a:t>
            </a:r>
            <a:r>
              <a:rPr lang="de-DE" dirty="0">
                <a:effectLst/>
                <a:latin typeface="Arial" panose="020B0604020202020204" pitchFamily="34" charset="0"/>
              </a:rPr>
              <a:t> Media Analysen aus den Jahren 2017 bis 2020</a:t>
            </a:r>
          </a:p>
          <a:p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    </a:t>
            </a:r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 einige für das </a:t>
            </a:r>
            <a:r>
              <a:rPr lang="de-DE" dirty="0" err="1">
                <a:latin typeface="Arial" panose="020B0604020202020204" pitchFamily="34" charset="0"/>
                <a:sym typeface="Wingdings" panose="05000000000000000000" pitchFamily="2" charset="2"/>
              </a:rPr>
              <a:t>ThWIC</a:t>
            </a:r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-Projekt abgeleitete Use Cases:</a:t>
            </a:r>
          </a:p>
          <a:p>
            <a:endParaRPr lang="de-DE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Meinungs- und Stimmungsanalysen im Bereich Wasser</a:t>
            </a:r>
          </a:p>
          <a:p>
            <a:pPr marL="285750" indent="-285750">
              <a:buFontTx/>
              <a:buChar char="-"/>
            </a:pPr>
            <a:endParaRPr lang="de-DE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	-Bestimmung der </a:t>
            </a:r>
            <a:r>
              <a:rPr lang="de-DE" dirty="0"/>
              <a:t>Meinungsabhängigkeit von </a:t>
            </a:r>
          </a:p>
          <a:p>
            <a:r>
              <a:rPr lang="de-DE" dirty="0"/>
              <a:t>	personenbezogenen Daten</a:t>
            </a:r>
          </a:p>
          <a:p>
            <a:endParaRPr lang="de-DE" dirty="0"/>
          </a:p>
          <a:p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	-</a:t>
            </a:r>
            <a:r>
              <a:rPr lang="de-DE" dirty="0"/>
              <a:t>Meinungsänderung im Zeitverlauf, </a:t>
            </a:r>
          </a:p>
          <a:p>
            <a:r>
              <a:rPr lang="de-DE" dirty="0"/>
              <a:t>	z.B. nach politischen Ereignissen</a:t>
            </a:r>
          </a:p>
          <a:p>
            <a:endParaRPr lang="de-DE" dirty="0"/>
          </a:p>
          <a:p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	-</a:t>
            </a:r>
            <a:r>
              <a:rPr lang="de-DE" dirty="0"/>
              <a:t>Katastrophenschweregrad einschätzen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Ereignisse im Wasser-Kontext (automatisch) zusammenfassen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Erfolgsfaktoren für Werbekampagnen im Wasser-Kontext analysieren</a:t>
            </a:r>
            <a:endParaRPr lang="de-DE" dirty="0"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A947517-A264-6000-3025-3147B820A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851" y="1809897"/>
            <a:ext cx="4664149" cy="310207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401D222-14A4-9E6A-33A1-2AA7E99512E7}"/>
              </a:ext>
            </a:extLst>
          </p:cNvPr>
          <p:cNvSpPr txBox="1"/>
          <p:nvPr/>
        </p:nvSpPr>
        <p:spPr>
          <a:xfrm>
            <a:off x="7997967" y="4909530"/>
            <a:ext cx="419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Überschwemmungen Queensland, 2011</a:t>
            </a:r>
          </a:p>
        </p:txBody>
      </p:sp>
    </p:spTree>
    <p:extLst>
      <p:ext uri="{BB962C8B-B14F-4D97-AF65-F5344CB8AC3E}">
        <p14:creationId xmlns:p14="http://schemas.microsoft.com/office/powerpoint/2010/main" val="318201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FAF469B-63F7-2F69-6833-82C88532FF87}"/>
              </a:ext>
            </a:extLst>
          </p:cNvPr>
          <p:cNvSpPr txBox="1"/>
          <p:nvPr/>
        </p:nvSpPr>
        <p:spPr>
          <a:xfrm>
            <a:off x="1917858" y="321216"/>
            <a:ext cx="8499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Für Analysen verwendete </a:t>
            </a:r>
            <a:r>
              <a:rPr lang="de-DE" sz="2800" b="1" dirty="0" err="1"/>
              <a:t>Social</a:t>
            </a:r>
            <a:r>
              <a:rPr lang="de-DE" sz="2800" b="1" dirty="0"/>
              <a:t> Media Plattformen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F0E5EA-3DBC-2C3E-185A-0EA607A05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59" y="2569468"/>
            <a:ext cx="10934700" cy="139065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07F3CAB-249D-8E99-3FCC-5A2C6E7BCF89}"/>
              </a:ext>
            </a:extLst>
          </p:cNvPr>
          <p:cNvSpPr txBox="1"/>
          <p:nvPr/>
        </p:nvSpPr>
        <p:spPr>
          <a:xfrm>
            <a:off x="542259" y="4742121"/>
            <a:ext cx="11472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de-DE" dirty="0">
                <a:effectLst/>
                <a:latin typeface="Arial" panose="020B0604020202020204" pitchFamily="34" charset="0"/>
              </a:rPr>
              <a:t>Twitter (bzw. „X“) mit 55 von insgesamt 134 verwendeten </a:t>
            </a:r>
            <a:r>
              <a:rPr lang="de-DE" dirty="0" err="1">
                <a:effectLst/>
                <a:latin typeface="Arial" panose="020B0604020202020204" pitchFamily="34" charset="0"/>
              </a:rPr>
              <a:t>Social</a:t>
            </a:r>
            <a:r>
              <a:rPr lang="de-DE" dirty="0">
                <a:effectLst/>
                <a:latin typeface="Arial" panose="020B0604020202020204" pitchFamily="34" charset="0"/>
              </a:rPr>
              <a:t> Media Netzwerken am häufigsten genutzt</a:t>
            </a:r>
          </a:p>
          <a:p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Problem </a:t>
            </a:r>
            <a:r>
              <a:rPr lang="de-DE" dirty="0">
                <a:effectLst/>
                <a:latin typeface="Arial" panose="020B0604020202020204" pitchFamily="34" charset="0"/>
              </a:rPr>
              <a:t>für Forschungsprojekte</a:t>
            </a:r>
            <a:r>
              <a:rPr lang="de-DE" dirty="0"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de-DE" dirty="0">
                <a:effectLst/>
                <a:latin typeface="Arial" panose="020B0604020202020204" pitchFamily="34" charset="0"/>
              </a:rPr>
              <a:t>Kommerzialisierung der Twitter-API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50A7F0D-577D-4FCE-3724-BDBDCA20E060}"/>
              </a:ext>
            </a:extLst>
          </p:cNvPr>
          <p:cNvSpPr txBox="1"/>
          <p:nvPr/>
        </p:nvSpPr>
        <p:spPr>
          <a:xfrm>
            <a:off x="183411" y="844436"/>
            <a:ext cx="113529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>
                <a:effectLst/>
                <a:latin typeface="Arial" panose="020B0604020202020204" pitchFamily="34" charset="0"/>
              </a:rPr>
              <a:t>Review-Artikel: Z</a:t>
            </a:r>
            <a:r>
              <a:rPr lang="da-DK" dirty="0">
                <a:effectLst/>
                <a:latin typeface="Arial" panose="020B0604020202020204" pitchFamily="34" charset="0"/>
              </a:rPr>
              <a:t>achlod, C. et al. (2022)</a:t>
            </a:r>
            <a:endParaRPr lang="de-DE" dirty="0">
              <a:effectLst/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dirty="0">
              <a:effectLst/>
              <a:latin typeface="Arial" panose="020B0604020202020204" pitchFamily="34" charset="0"/>
            </a:endParaRPr>
          </a:p>
          <a:p>
            <a:r>
              <a:rPr lang="de-DE" dirty="0">
                <a:effectLst/>
                <a:latin typeface="Arial" panose="020B0604020202020204" pitchFamily="34" charset="0"/>
              </a:rPr>
              <a:t>    </a:t>
            </a:r>
            <a:r>
              <a:rPr lang="de-DE" dirty="0"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dirty="0">
                <a:effectLst/>
                <a:latin typeface="Arial" panose="020B0604020202020204" pitchFamily="34" charset="0"/>
              </a:rPr>
              <a:t>94 Veröffentlichungen über </a:t>
            </a:r>
            <a:r>
              <a:rPr lang="de-DE" dirty="0" err="1">
                <a:effectLst/>
                <a:latin typeface="Arial" panose="020B0604020202020204" pitchFamily="34" charset="0"/>
              </a:rPr>
              <a:t>Social</a:t>
            </a:r>
            <a:r>
              <a:rPr lang="de-DE" dirty="0">
                <a:effectLst/>
                <a:latin typeface="Arial" panose="020B0604020202020204" pitchFamily="34" charset="0"/>
              </a:rPr>
              <a:t> Media Analysen aus den Jahren 2017 bis 2020</a:t>
            </a:r>
          </a:p>
          <a:p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</a:rPr>
              <a:t>    </a:t>
            </a:r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 alle verwendeten </a:t>
            </a:r>
            <a:r>
              <a:rPr lang="de-DE" dirty="0" err="1">
                <a:latin typeface="Arial" panose="020B0604020202020204" pitchFamily="34" charset="0"/>
                <a:sym typeface="Wingdings" panose="05000000000000000000" pitchFamily="2" charset="2"/>
              </a:rPr>
              <a:t>Social</a:t>
            </a:r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 Media Plattformen zusammengetragen:</a:t>
            </a:r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0A6692-851D-2B68-1A51-D14790DD3C10}"/>
              </a:ext>
            </a:extLst>
          </p:cNvPr>
          <p:cNvSpPr txBox="1"/>
          <p:nvPr/>
        </p:nvSpPr>
        <p:spPr>
          <a:xfrm>
            <a:off x="12976182" y="3632887"/>
            <a:ext cx="4789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Hier  o auf nächster Folie </a:t>
            </a:r>
            <a:r>
              <a:rPr lang="de-DE" dirty="0" err="1">
                <a:solidFill>
                  <a:srgbClr val="FF0000"/>
                </a:solidFill>
              </a:rPr>
              <a:t>evtl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twitter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api</a:t>
            </a:r>
            <a:r>
              <a:rPr lang="de-DE" dirty="0">
                <a:solidFill>
                  <a:srgbClr val="FF0000"/>
                </a:solidFill>
              </a:rPr>
              <a:t> preise als </a:t>
            </a:r>
            <a:r>
              <a:rPr lang="de-DE" dirty="0" err="1">
                <a:solidFill>
                  <a:srgbClr val="FF0000"/>
                </a:solidFill>
              </a:rPr>
              <a:t>screenshot</a:t>
            </a:r>
            <a:r>
              <a:rPr lang="de-DE" dirty="0">
                <a:solidFill>
                  <a:srgbClr val="FF0000"/>
                </a:solidFill>
              </a:rPr>
              <a:t> einfügen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D9FECD6-0EF8-FCCC-D636-0DF9DD230ACF}"/>
              </a:ext>
            </a:extLst>
          </p:cNvPr>
          <p:cNvSpPr txBox="1"/>
          <p:nvPr/>
        </p:nvSpPr>
        <p:spPr>
          <a:xfrm>
            <a:off x="12737677" y="4398604"/>
            <a:ext cx="6166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vgl. miteinzigem </a:t>
            </a:r>
            <a:r>
              <a:rPr lang="de-DE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keyword</a:t>
            </a:r>
            <a:r>
              <a:rPr lang="de-DE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water</a:t>
            </a:r>
            <a:r>
              <a:rPr lang="de-DE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scarcity</a:t>
            </a:r>
            <a:r>
              <a:rPr lang="de-DE" dirty="0">
                <a:solidFill>
                  <a:srgbClr val="FF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: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E9A56D4-B4D0-81E0-2EEE-ECAEA569613F}"/>
              </a:ext>
            </a:extLst>
          </p:cNvPr>
          <p:cNvSpPr txBox="1"/>
          <p:nvPr/>
        </p:nvSpPr>
        <p:spPr>
          <a:xfrm>
            <a:off x="2041482" y="3909886"/>
            <a:ext cx="7636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Für Analysen verwendete </a:t>
            </a:r>
            <a:r>
              <a:rPr lang="de-DE" i="1" dirty="0" err="1"/>
              <a:t>Social</a:t>
            </a:r>
            <a:r>
              <a:rPr lang="de-DE" i="1" dirty="0"/>
              <a:t> Media Netzwerke, Quelle: </a:t>
            </a:r>
            <a:r>
              <a:rPr lang="de-DE" i="1" dirty="0" err="1"/>
              <a:t>Zachlod</a:t>
            </a:r>
            <a:r>
              <a:rPr lang="de-DE" i="1" dirty="0"/>
              <a:t>, C. et al.</a:t>
            </a:r>
          </a:p>
        </p:txBody>
      </p:sp>
    </p:spTree>
    <p:extLst>
      <p:ext uri="{BB962C8B-B14F-4D97-AF65-F5344CB8AC3E}">
        <p14:creationId xmlns:p14="http://schemas.microsoft.com/office/powerpoint/2010/main" val="184554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BC4E0AC-BB06-A632-B889-18D02BA29B91}"/>
              </a:ext>
            </a:extLst>
          </p:cNvPr>
          <p:cNvSpPr txBox="1"/>
          <p:nvPr/>
        </p:nvSpPr>
        <p:spPr>
          <a:xfrm>
            <a:off x="1917858" y="321216"/>
            <a:ext cx="8779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Aktuelle Twitter-Alternativen: Mastodon und </a:t>
            </a:r>
            <a:r>
              <a:rPr lang="de-DE" sz="2800" b="1" dirty="0" err="1"/>
              <a:t>BlueSky</a:t>
            </a:r>
            <a:endParaRPr lang="de-DE" sz="2800" b="1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ABBE7D6-F4C4-70FD-A954-B78C458732B5}"/>
              </a:ext>
            </a:extLst>
          </p:cNvPr>
          <p:cNvSpPr txBox="1"/>
          <p:nvPr/>
        </p:nvSpPr>
        <p:spPr>
          <a:xfrm>
            <a:off x="12299210" y="5471026"/>
            <a:ext cx="3436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Mastodon Nutzerzahlen: seit Übernahme von Twitter fast verdoppelt</a:t>
            </a:r>
          </a:p>
          <a:p>
            <a:r>
              <a:rPr lang="de-DE" dirty="0">
                <a:solidFill>
                  <a:srgbClr val="FF0000"/>
                </a:solidFill>
              </a:rPr>
              <a:t>Bringe Twitter Nutzerzahlen ein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CFBBFB2-84AA-F700-30B3-CC717FAC9D72}"/>
              </a:ext>
            </a:extLst>
          </p:cNvPr>
          <p:cNvSpPr txBox="1"/>
          <p:nvPr/>
        </p:nvSpPr>
        <p:spPr>
          <a:xfrm>
            <a:off x="964711" y="1297173"/>
            <a:ext cx="103270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ym typeface="Wingdings" panose="05000000000000000000" pitchFamily="2" charset="2"/>
              </a:rPr>
              <a:t>ähnliche Zielsetzungen: 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1.) Unabhängigkeit von einzelnen Personen/Organisationen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2.) Nicht-Kommerziell</a:t>
            </a:r>
          </a:p>
        </p:txBody>
      </p:sp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D31E10BB-58FE-AD7E-46D1-415347FB5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437235"/>
              </p:ext>
            </p:extLst>
          </p:nvPr>
        </p:nvGraphicFramePr>
        <p:xfrm>
          <a:off x="964711" y="3227238"/>
          <a:ext cx="9621483" cy="2987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7161">
                  <a:extLst>
                    <a:ext uri="{9D8B030D-6E8A-4147-A177-3AD203B41FA5}">
                      <a16:colId xmlns:a16="http://schemas.microsoft.com/office/drawing/2014/main" val="870508729"/>
                    </a:ext>
                  </a:extLst>
                </a:gridCol>
                <a:gridCol w="3207161">
                  <a:extLst>
                    <a:ext uri="{9D8B030D-6E8A-4147-A177-3AD203B41FA5}">
                      <a16:colId xmlns:a16="http://schemas.microsoft.com/office/drawing/2014/main" val="2527714354"/>
                    </a:ext>
                  </a:extLst>
                </a:gridCol>
                <a:gridCol w="3207161">
                  <a:extLst>
                    <a:ext uri="{9D8B030D-6E8A-4147-A177-3AD203B41FA5}">
                      <a16:colId xmlns:a16="http://schemas.microsoft.com/office/drawing/2014/main" val="3848236932"/>
                    </a:ext>
                  </a:extLst>
                </a:gridCol>
              </a:tblGrid>
              <a:tr h="410885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Mastodon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BlueSky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718150"/>
                  </a:ext>
                </a:extLst>
              </a:tr>
              <a:tr h="410885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Veröffentlichung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007107"/>
                  </a:ext>
                </a:extLst>
              </a:tr>
              <a:tr h="410885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Herkunft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Deutschland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569667"/>
                  </a:ext>
                </a:extLst>
              </a:tr>
              <a:tr h="709198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Suche nach Schlüsselwörtern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Ist möglich (seit Nov. 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Ist möglich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710585"/>
                  </a:ext>
                </a:extLst>
              </a:tr>
              <a:tr h="405256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Anzahl Registrierungen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&gt; 10.000.000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&gt; 6.000.000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286529"/>
                  </a:ext>
                </a:extLst>
              </a:tr>
              <a:tr h="410885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Netzwerkstruktur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Föderiert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(De-)Zentralisiert (seit Feb. 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402076"/>
                  </a:ext>
                </a:extLst>
              </a:tr>
            </a:tbl>
          </a:graphicData>
        </a:graphic>
      </p:graphicFrame>
      <p:pic>
        <p:nvPicPr>
          <p:cNvPr id="17" name="Grafik 16">
            <a:extLst>
              <a:ext uri="{FF2B5EF4-FFF2-40B4-BE49-F238E27FC236}">
                <a16:creationId xmlns:a16="http://schemas.microsoft.com/office/drawing/2014/main" id="{CACD718D-E812-6F4B-41B0-494A157D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957" y="1104074"/>
            <a:ext cx="1181527" cy="126372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5FFB0639-A404-DEB5-5DB7-69A05C4F3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397" y="1104073"/>
            <a:ext cx="1358796" cy="126372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A5BBC76-B0B2-314C-4ED2-0A4701FB9369}"/>
              </a:ext>
            </a:extLst>
          </p:cNvPr>
          <p:cNvSpPr txBox="1"/>
          <p:nvPr/>
        </p:nvSpPr>
        <p:spPr>
          <a:xfrm>
            <a:off x="7123242" y="2376404"/>
            <a:ext cx="1740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Mastodon-Logo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E766630-9A94-83DE-7378-3825B4D13725}"/>
              </a:ext>
            </a:extLst>
          </p:cNvPr>
          <p:cNvSpPr txBox="1"/>
          <p:nvPr/>
        </p:nvSpPr>
        <p:spPr>
          <a:xfrm>
            <a:off x="9180928" y="2367793"/>
            <a:ext cx="1537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 err="1"/>
              <a:t>BlueSky</a:t>
            </a:r>
            <a:r>
              <a:rPr lang="de-DE" i="1" dirty="0"/>
              <a:t>-Logo</a:t>
            </a:r>
          </a:p>
        </p:txBody>
      </p:sp>
    </p:spTree>
    <p:extLst>
      <p:ext uri="{BB962C8B-B14F-4D97-AF65-F5344CB8AC3E}">
        <p14:creationId xmlns:p14="http://schemas.microsoft.com/office/powerpoint/2010/main" val="397824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BC4E0AC-BB06-A632-B889-18D02BA29B91}"/>
              </a:ext>
            </a:extLst>
          </p:cNvPr>
          <p:cNvSpPr txBox="1"/>
          <p:nvPr/>
        </p:nvSpPr>
        <p:spPr>
          <a:xfrm>
            <a:off x="3140614" y="321216"/>
            <a:ext cx="6221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Mastodon: Bedeutung der Föderation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1BB4C15-3124-7E79-C972-F5652A070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298" y="844436"/>
            <a:ext cx="6507125" cy="55135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6EA6172-68C4-9385-6C80-523365324AA9}"/>
              </a:ext>
            </a:extLst>
          </p:cNvPr>
          <p:cNvSpPr txBox="1"/>
          <p:nvPr/>
        </p:nvSpPr>
        <p:spPr>
          <a:xfrm>
            <a:off x="141796" y="1084520"/>
            <a:ext cx="536076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Verschiedene Server („Instanzen“) werden </a:t>
            </a:r>
          </a:p>
          <a:p>
            <a:r>
              <a:rPr lang="de-DE" dirty="0"/>
              <a:t>	unabhängig voneinander betrieben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>
                <a:effectLst/>
                <a:latin typeface="Arial" panose="020B0604020202020204" pitchFamily="34" charset="0"/>
              </a:rPr>
              <a:t>Nutzer können nur auf </a:t>
            </a:r>
            <a:r>
              <a:rPr lang="de-DE" dirty="0">
                <a:latin typeface="Arial" panose="020B0604020202020204" pitchFamily="34" charset="0"/>
              </a:rPr>
              <a:t>I</a:t>
            </a:r>
            <a:r>
              <a:rPr lang="de-DE" dirty="0">
                <a:effectLst/>
                <a:latin typeface="Arial" panose="020B0604020202020204" pitchFamily="34" charset="0"/>
              </a:rPr>
              <a:t>nhalte zugreifen, </a:t>
            </a:r>
          </a:p>
          <a:p>
            <a:r>
              <a:rPr lang="de-DE" dirty="0">
                <a:latin typeface="Arial" panose="020B0604020202020204" pitchFamily="34" charset="0"/>
              </a:rPr>
              <a:t>	</a:t>
            </a:r>
            <a:r>
              <a:rPr lang="de-DE" dirty="0">
                <a:effectLst/>
                <a:latin typeface="Arial" panose="020B0604020202020204" pitchFamily="34" charset="0"/>
              </a:rPr>
              <a:t>die auf eigenen Instanz veröffentlicht</a:t>
            </a:r>
          </a:p>
          <a:p>
            <a:endParaRPr lang="de-DE" dirty="0"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 panose="020B0604020202020204" pitchFamily="34" charset="0"/>
              </a:rPr>
              <a:t>Inhalte</a:t>
            </a:r>
            <a:r>
              <a:rPr lang="de-DE" dirty="0">
                <a:effectLst/>
                <a:latin typeface="Arial" panose="020B0604020202020204" pitchFamily="34" charset="0"/>
              </a:rPr>
              <a:t> anderer Instanzen werden tlw.</a:t>
            </a:r>
            <a:br>
              <a:rPr lang="de-DE" dirty="0"/>
            </a:br>
            <a:r>
              <a:rPr lang="de-DE" dirty="0">
                <a:effectLst/>
                <a:latin typeface="Arial" panose="020B0604020202020204" pitchFamily="34" charset="0"/>
              </a:rPr>
              <a:t>angezeigt, wenn Instanzen verknüpft sind</a:t>
            </a:r>
          </a:p>
          <a:p>
            <a:pPr marL="285750" indent="-285750">
              <a:buFontTx/>
              <a:buChar char="-"/>
            </a:pPr>
            <a:endParaRPr lang="de-DE" dirty="0"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dirty="0"/>
              <a:t>zurzeit ca. 11.000 Instanzen</a:t>
            </a:r>
          </a:p>
          <a:p>
            <a:pPr marL="285750" indent="-285750">
              <a:buFontTx/>
              <a:buChar char="-"/>
            </a:pPr>
            <a:endParaRPr lang="de-DE" dirty="0">
              <a:effectLst/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dirty="0">
              <a:effectLst/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dirty="0">
              <a:latin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 Datensammlung erfolgt </a:t>
            </a:r>
            <a:r>
              <a:rPr lang="de-DE" dirty="0" err="1">
                <a:latin typeface="Arial" panose="020B0604020202020204" pitchFamily="34" charset="0"/>
                <a:sym typeface="Wingdings" panose="05000000000000000000" pitchFamily="2" charset="2"/>
              </a:rPr>
              <a:t>jwl</a:t>
            </a:r>
            <a:r>
              <a:rPr lang="de-DE" dirty="0">
                <a:latin typeface="Arial" panose="020B0604020202020204" pitchFamily="34" charset="0"/>
                <a:sym typeface="Wingdings" panose="05000000000000000000" pitchFamily="2" charset="2"/>
              </a:rPr>
              <a:t>. nur für eine Instanz!</a:t>
            </a:r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322F028-C82A-9544-5B2C-B20B70486FAB}"/>
              </a:ext>
            </a:extLst>
          </p:cNvPr>
          <p:cNvSpPr txBox="1"/>
          <p:nvPr/>
        </p:nvSpPr>
        <p:spPr>
          <a:xfrm>
            <a:off x="7546442" y="6329166"/>
            <a:ext cx="2638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Föderation in Mastodon </a:t>
            </a:r>
          </a:p>
        </p:txBody>
      </p:sp>
    </p:spTree>
    <p:extLst>
      <p:ext uri="{BB962C8B-B14F-4D97-AF65-F5344CB8AC3E}">
        <p14:creationId xmlns:p14="http://schemas.microsoft.com/office/powerpoint/2010/main" val="299364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590148E9-1F75-6DF9-5C0E-C3B01AA095BF}"/>
              </a:ext>
            </a:extLst>
          </p:cNvPr>
          <p:cNvSpPr txBox="1"/>
          <p:nvPr/>
        </p:nvSpPr>
        <p:spPr>
          <a:xfrm>
            <a:off x="12488517" y="4603206"/>
            <a:ext cx="1291218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-</a:t>
            </a:r>
            <a:r>
              <a:rPr lang="de-DE" dirty="0">
                <a:solidFill>
                  <a:srgbClr val="FF0000"/>
                </a:solidFill>
              </a:rPr>
              <a:t>erwähne Förderung vom Bund </a:t>
            </a:r>
          </a:p>
          <a:p>
            <a:r>
              <a:rPr lang="de-DE" dirty="0">
                <a:solidFill>
                  <a:srgbClr val="FF0000"/>
                </a:solidFill>
              </a:rPr>
              <a:t>als Vorteil, Hoheitsakt</a:t>
            </a:r>
          </a:p>
          <a:p>
            <a:r>
              <a:rPr lang="de-DE" dirty="0">
                <a:solidFill>
                  <a:srgbClr val="FF0000"/>
                </a:solidFill>
              </a:rPr>
              <a:t>-Grund für Relevanz bei SM obwohl eigentlich alles öffentlich ist: es könnten in Beiträgen Informationen über Dritte enthalten sein</a:t>
            </a:r>
          </a:p>
          <a:p>
            <a:r>
              <a:rPr lang="de-DE" dirty="0">
                <a:solidFill>
                  <a:srgbClr val="FF0000"/>
                </a:solidFill>
              </a:rPr>
              <a:t>-den Datenschutzrichtlinien von </a:t>
            </a:r>
            <a:r>
              <a:rPr lang="de-DE" dirty="0" err="1">
                <a:solidFill>
                  <a:srgbClr val="FF0000"/>
                </a:solidFill>
              </a:rPr>
              <a:t>Mstdn</a:t>
            </a:r>
            <a:r>
              <a:rPr lang="de-DE" dirty="0">
                <a:solidFill>
                  <a:srgbClr val="FF0000"/>
                </a:solidFill>
              </a:rPr>
              <a:t> und </a:t>
            </a:r>
            <a:r>
              <a:rPr lang="de-DE" dirty="0" err="1">
                <a:solidFill>
                  <a:srgbClr val="FF0000"/>
                </a:solidFill>
              </a:rPr>
              <a:t>bsky</a:t>
            </a:r>
            <a:r>
              <a:rPr lang="de-DE" dirty="0">
                <a:solidFill>
                  <a:srgbClr val="FF0000"/>
                </a:solidFill>
              </a:rPr>
              <a:t> war nichts zu entnehmen,</a:t>
            </a:r>
          </a:p>
          <a:p>
            <a:r>
              <a:rPr lang="de-DE" dirty="0">
                <a:solidFill>
                  <a:srgbClr val="FF0000"/>
                </a:solidFill>
              </a:rPr>
              <a:t>Das eine Datenverarbeitung deutlich rechtfertigen würde, obwohl in </a:t>
            </a:r>
            <a:r>
              <a:rPr lang="de-DE" dirty="0" err="1">
                <a:solidFill>
                  <a:srgbClr val="FF0000"/>
                </a:solidFill>
              </a:rPr>
              <a:t>bsky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eig</a:t>
            </a:r>
            <a:r>
              <a:rPr lang="de-DE" dirty="0">
                <a:solidFill>
                  <a:srgbClr val="FF0000"/>
                </a:solidFill>
              </a:rPr>
              <a:t> alle öffentlich ist</a:t>
            </a:r>
          </a:p>
          <a:p>
            <a:endParaRPr lang="de-DE" dirty="0">
              <a:solidFill>
                <a:srgbClr val="FF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0EC2027-024E-C4A7-2538-43D96D8CF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01" y="1004018"/>
            <a:ext cx="5887590" cy="311501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75CBA0B-A36A-622B-9532-E3B485E2D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01" y="4041492"/>
            <a:ext cx="5887590" cy="248538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906460B-19B9-5CD1-8CAB-317C722EFA95}"/>
              </a:ext>
            </a:extLst>
          </p:cNvPr>
          <p:cNvSpPr txBox="1"/>
          <p:nvPr/>
        </p:nvSpPr>
        <p:spPr>
          <a:xfrm>
            <a:off x="4132252" y="321216"/>
            <a:ext cx="3370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Rechtliche Aspekte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ACEA7D8-C277-1701-891A-3DC2A3098419}"/>
              </a:ext>
            </a:extLst>
          </p:cNvPr>
          <p:cNvSpPr txBox="1"/>
          <p:nvPr/>
        </p:nvSpPr>
        <p:spPr>
          <a:xfrm>
            <a:off x="281955" y="961434"/>
            <a:ext cx="68261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DSGVO („Datenschutzgrundverordnung“)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BDSG  („Bundesdatenschutzgesetz“)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          Maßnahmen aus </a:t>
            </a:r>
            <a:r>
              <a:rPr lang="de-DE" dirty="0">
                <a:effectLst/>
                <a:latin typeface="Arial" panose="020B0604020202020204" pitchFamily="34" charset="0"/>
              </a:rPr>
              <a:t>§ 22 Absatz 2 Satz 2 BDSG 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Absprache mit Datenschutzbeauftragten der Uni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Projekt darf unter Einhaltung der definierten 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Maßnahmen durchgeführt werden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Bei Weitergabe der Daten von der Uni an Dritte:</a:t>
            </a:r>
          </a:p>
          <a:p>
            <a:r>
              <a:rPr lang="de-DE" dirty="0">
                <a:sym typeface="Wingdings" panose="05000000000000000000" pitchFamily="2" charset="2"/>
              </a:rPr>
              <a:t>	weitere Absprache mit </a:t>
            </a:r>
          </a:p>
          <a:p>
            <a:r>
              <a:rPr lang="de-DE" dirty="0">
                <a:sym typeface="Wingdings" panose="05000000000000000000" pitchFamily="2" charset="2"/>
              </a:rPr>
              <a:t>	Datenschutzbeauftragten </a:t>
            </a:r>
          </a:p>
          <a:p>
            <a:r>
              <a:rPr lang="de-DE" dirty="0">
                <a:sym typeface="Wingdings" panose="05000000000000000000" pitchFamily="2" charset="2"/>
              </a:rPr>
              <a:t>	</a:t>
            </a:r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7688188-A478-A4EE-911C-31175B42A19C}"/>
              </a:ext>
            </a:extLst>
          </p:cNvPr>
          <p:cNvSpPr txBox="1"/>
          <p:nvPr/>
        </p:nvSpPr>
        <p:spPr>
          <a:xfrm>
            <a:off x="7559749" y="6488668"/>
            <a:ext cx="3218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Maßnahmen zum Datenschutz</a:t>
            </a:r>
          </a:p>
        </p:txBody>
      </p:sp>
    </p:spTree>
    <p:extLst>
      <p:ext uri="{BB962C8B-B14F-4D97-AF65-F5344CB8AC3E}">
        <p14:creationId xmlns:p14="http://schemas.microsoft.com/office/powerpoint/2010/main" val="262389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BA416662-094B-6CBD-5F9E-830F72D10633}"/>
              </a:ext>
            </a:extLst>
          </p:cNvPr>
          <p:cNvSpPr txBox="1"/>
          <p:nvPr/>
        </p:nvSpPr>
        <p:spPr>
          <a:xfrm>
            <a:off x="1917858" y="321216"/>
            <a:ext cx="7166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Vereinheitlichung der Response-Schemata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27E57E8-CA49-D8F8-AC32-05409C72F80B}"/>
              </a:ext>
            </a:extLst>
          </p:cNvPr>
          <p:cNvSpPr txBox="1"/>
          <p:nvPr/>
        </p:nvSpPr>
        <p:spPr>
          <a:xfrm>
            <a:off x="415089" y="1228594"/>
            <a:ext cx="113618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Insgesamt 71 Eigenschaften wurden betrachtet: 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Informationen über den Beitrag, Account, </a:t>
            </a:r>
          </a:p>
          <a:p>
            <a:r>
              <a:rPr lang="de-DE" dirty="0"/>
              <a:t>	Medienanhänge, Hashtags, </a:t>
            </a:r>
          </a:p>
          <a:p>
            <a:r>
              <a:rPr lang="de-DE" dirty="0"/>
              <a:t>	erwähnte User, Umfragen, …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/>
              <a:t>wurden auf 40 für </a:t>
            </a:r>
            <a:r>
              <a:rPr lang="de-DE" dirty="0" err="1"/>
              <a:t>ThWIC</a:t>
            </a:r>
            <a:r>
              <a:rPr lang="de-DE" dirty="0"/>
              <a:t> relevante </a:t>
            </a:r>
          </a:p>
          <a:p>
            <a:r>
              <a:rPr lang="de-DE" dirty="0"/>
              <a:t>	Merkmale reduziert  </a:t>
            </a:r>
          </a:p>
          <a:p>
            <a:r>
              <a:rPr lang="de-DE" dirty="0"/>
              <a:t>	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E654619-B1C2-326A-0232-8200DCB62CE6}"/>
              </a:ext>
            </a:extLst>
          </p:cNvPr>
          <p:cNvSpPr txBox="1"/>
          <p:nvPr/>
        </p:nvSpPr>
        <p:spPr>
          <a:xfrm>
            <a:off x="12192000" y="4444661"/>
            <a:ext cx="33519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24 Infos über Beitrag</a:t>
            </a:r>
          </a:p>
          <a:p>
            <a:r>
              <a:rPr lang="de-DE" dirty="0">
                <a:solidFill>
                  <a:srgbClr val="FF0000"/>
                </a:solidFill>
              </a:rPr>
              <a:t>25 Infos über Account</a:t>
            </a:r>
          </a:p>
          <a:p>
            <a:r>
              <a:rPr lang="de-DE" dirty="0">
                <a:solidFill>
                  <a:srgbClr val="FF0000"/>
                </a:solidFill>
              </a:rPr>
              <a:t>	3 Medienanhänge ()</a:t>
            </a:r>
          </a:p>
          <a:p>
            <a:r>
              <a:rPr lang="de-DE" dirty="0">
                <a:solidFill>
                  <a:srgbClr val="FF0000"/>
                </a:solidFill>
              </a:rPr>
              <a:t>	3 Nutzer</a:t>
            </a:r>
          </a:p>
          <a:p>
            <a:r>
              <a:rPr lang="de-DE" dirty="0">
                <a:solidFill>
                  <a:srgbClr val="FF0000"/>
                </a:solidFill>
              </a:rPr>
              <a:t>	3 Hashtag</a:t>
            </a:r>
          </a:p>
          <a:p>
            <a:r>
              <a:rPr lang="de-DE" dirty="0">
                <a:solidFill>
                  <a:srgbClr val="FF0000"/>
                </a:solidFill>
              </a:rPr>
              <a:t>	12 Umfrage</a:t>
            </a:r>
          </a:p>
          <a:p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22 Seiten</a:t>
            </a: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3EF82F6-7895-9DC0-42EF-B4F7D56FC43D}"/>
              </a:ext>
            </a:extLst>
          </p:cNvPr>
          <p:cNvSpPr txBox="1"/>
          <p:nvPr/>
        </p:nvSpPr>
        <p:spPr>
          <a:xfrm>
            <a:off x="6628376" y="6133003"/>
            <a:ext cx="5368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Informationen für einen einzigen Mastodon-Beitrag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A7904F2-3A6F-AC92-FEB8-E963F05AD486}"/>
              </a:ext>
            </a:extLst>
          </p:cNvPr>
          <p:cNvSpPr/>
          <p:nvPr/>
        </p:nvSpPr>
        <p:spPr>
          <a:xfrm>
            <a:off x="7163147" y="5765210"/>
            <a:ext cx="638979" cy="33730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53BE47B-0B29-0DA6-6BA9-CDF618411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487" y="1792045"/>
            <a:ext cx="3076263" cy="437635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A8F52C4-8A17-8094-32C0-6666520C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750" y="1827436"/>
            <a:ext cx="3330264" cy="437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4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CF651F95-87B9-3633-2DEC-30FF104F64D9}"/>
              </a:ext>
            </a:extLst>
          </p:cNvPr>
          <p:cNvSpPr txBox="1"/>
          <p:nvPr/>
        </p:nvSpPr>
        <p:spPr>
          <a:xfrm>
            <a:off x="382750" y="1199593"/>
            <a:ext cx="113832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 Erklärungen in den Dokumentationen: häufig oberflächlich oder gar nicht vorhanden </a:t>
            </a:r>
            <a:r>
              <a:rPr lang="de-DE" dirty="0">
                <a:sym typeface="Wingdings" panose="05000000000000000000" pitchFamily="2" charset="2"/>
              </a:rPr>
              <a:t> „Experimente“</a:t>
            </a:r>
            <a:r>
              <a:rPr lang="de-DE" dirty="0"/>
              <a:t> </a:t>
            </a:r>
          </a:p>
          <a:p>
            <a:r>
              <a:rPr lang="de-DE" dirty="0"/>
              <a:t>	</a:t>
            </a: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endParaRPr lang="de-DE" dirty="0"/>
          </a:p>
          <a:p>
            <a:r>
              <a:rPr lang="de-DE" dirty="0"/>
              <a:t>-  „kleine“ zu erklärende Unterschiede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r>
              <a:rPr lang="de-DE" dirty="0"/>
              <a:t>- Änderungen im Response-Schema während Bearbeitungszeit der BA</a:t>
            </a:r>
          </a:p>
          <a:p>
            <a:endParaRPr lang="de-DE" dirty="0"/>
          </a:p>
          <a:p>
            <a:r>
              <a:rPr lang="de-DE" dirty="0"/>
              <a:t>- Endpunkte geben unterschiedliche Informationen zurück</a:t>
            </a:r>
          </a:p>
          <a:p>
            <a:r>
              <a:rPr lang="de-DE" dirty="0"/>
              <a:t>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A416662-094B-6CBD-5F9E-830F72D10633}"/>
              </a:ext>
            </a:extLst>
          </p:cNvPr>
          <p:cNvSpPr txBox="1"/>
          <p:nvPr/>
        </p:nvSpPr>
        <p:spPr>
          <a:xfrm>
            <a:off x="1113627" y="321216"/>
            <a:ext cx="10706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Vereinheitlichung der Response-Schemata: Herausforderungen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E654619-B1C2-326A-0232-8200DCB62CE6}"/>
              </a:ext>
            </a:extLst>
          </p:cNvPr>
          <p:cNvSpPr txBox="1"/>
          <p:nvPr/>
        </p:nvSpPr>
        <p:spPr>
          <a:xfrm>
            <a:off x="12192000" y="4444661"/>
            <a:ext cx="33519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24 Infos über Beitrag</a:t>
            </a:r>
          </a:p>
          <a:p>
            <a:r>
              <a:rPr lang="de-DE" dirty="0">
                <a:solidFill>
                  <a:srgbClr val="FF0000"/>
                </a:solidFill>
              </a:rPr>
              <a:t>25 Infos über Account</a:t>
            </a:r>
          </a:p>
          <a:p>
            <a:r>
              <a:rPr lang="de-DE" dirty="0">
                <a:solidFill>
                  <a:srgbClr val="FF0000"/>
                </a:solidFill>
              </a:rPr>
              <a:t>	3 Medienanhänge ()</a:t>
            </a:r>
          </a:p>
          <a:p>
            <a:r>
              <a:rPr lang="de-DE" dirty="0">
                <a:solidFill>
                  <a:srgbClr val="FF0000"/>
                </a:solidFill>
              </a:rPr>
              <a:t>	3 Nutzer</a:t>
            </a:r>
          </a:p>
          <a:p>
            <a:r>
              <a:rPr lang="de-DE" dirty="0">
                <a:solidFill>
                  <a:srgbClr val="FF0000"/>
                </a:solidFill>
              </a:rPr>
              <a:t>	3 Hashtag</a:t>
            </a:r>
          </a:p>
          <a:p>
            <a:r>
              <a:rPr lang="de-DE" dirty="0">
                <a:solidFill>
                  <a:srgbClr val="FF0000"/>
                </a:solidFill>
              </a:rPr>
              <a:t>	12 Umfrage</a:t>
            </a:r>
          </a:p>
          <a:p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22 Seiten</a:t>
            </a:r>
            <a:endParaRPr lang="de-DE" dirty="0">
              <a:solidFill>
                <a:srgbClr val="FF0000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9098FB7-0A93-5B0B-7836-263698EB1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012" y="1665769"/>
            <a:ext cx="8325091" cy="247430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3EF82F6-7895-9DC0-42EF-B4F7D56FC43D}"/>
              </a:ext>
            </a:extLst>
          </p:cNvPr>
          <p:cNvSpPr txBox="1"/>
          <p:nvPr/>
        </p:nvSpPr>
        <p:spPr>
          <a:xfrm>
            <a:off x="3500760" y="4125898"/>
            <a:ext cx="7691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„Experiment“: Wird ein Beitrag noch angezeigt, nachdem er gelöscht wurde?</a:t>
            </a:r>
          </a:p>
        </p:txBody>
      </p:sp>
    </p:spTree>
    <p:extLst>
      <p:ext uri="{BB962C8B-B14F-4D97-AF65-F5344CB8AC3E}">
        <p14:creationId xmlns:p14="http://schemas.microsoft.com/office/powerpoint/2010/main" val="801899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BA416662-094B-6CBD-5F9E-830F72D10633}"/>
              </a:ext>
            </a:extLst>
          </p:cNvPr>
          <p:cNvSpPr txBox="1"/>
          <p:nvPr/>
        </p:nvSpPr>
        <p:spPr>
          <a:xfrm>
            <a:off x="1407484" y="321216"/>
            <a:ext cx="10525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Vereinheitlichung der Response-Schemata: Herausforderungen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27E57E8-CA49-D8F8-AC32-05409C72F80B}"/>
              </a:ext>
            </a:extLst>
          </p:cNvPr>
          <p:cNvSpPr txBox="1"/>
          <p:nvPr/>
        </p:nvSpPr>
        <p:spPr>
          <a:xfrm>
            <a:off x="428149" y="1046248"/>
            <a:ext cx="5886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- Endpunkte geben unterschiedliche Informationen zurück</a:t>
            </a:r>
          </a:p>
          <a:p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 z.B. Account-Informationen:</a:t>
            </a:r>
            <a:endParaRPr lang="de-DE" dirty="0"/>
          </a:p>
          <a:p>
            <a:r>
              <a:rPr lang="de-DE" dirty="0"/>
              <a:t>	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C6FF7CA-4075-351D-EDB5-2EEDBD68A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847" y="1644711"/>
            <a:ext cx="3549374" cy="478683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28D1436-BE2F-87E6-CAA8-483A586BA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221" y="844436"/>
            <a:ext cx="3549373" cy="5587113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0812345-AADD-C316-740D-D4CBD0353718}"/>
              </a:ext>
            </a:extLst>
          </p:cNvPr>
          <p:cNvSpPr txBox="1"/>
          <p:nvPr/>
        </p:nvSpPr>
        <p:spPr>
          <a:xfrm>
            <a:off x="5778691" y="6384899"/>
            <a:ext cx="5135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Account-Informationen über gesammelte Beiträge</a:t>
            </a:r>
          </a:p>
        </p:txBody>
      </p:sp>
    </p:spTree>
    <p:extLst>
      <p:ext uri="{BB962C8B-B14F-4D97-AF65-F5344CB8AC3E}">
        <p14:creationId xmlns:p14="http://schemas.microsoft.com/office/powerpoint/2010/main" val="32228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B0396CB-3E3E-AA10-B300-467EE196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01" y="0"/>
            <a:ext cx="8227998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8609AB8-08BB-BB99-E90B-1DA05017516B}"/>
              </a:ext>
            </a:extLst>
          </p:cNvPr>
          <p:cNvSpPr txBox="1"/>
          <p:nvPr/>
        </p:nvSpPr>
        <p:spPr>
          <a:xfrm>
            <a:off x="7512352" y="5688699"/>
            <a:ext cx="29753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badi" panose="020F0502020204030204" pitchFamily="34" charset="0"/>
              </a:rPr>
              <a:t>Primärschlüssel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Zum Primärschlüssel gehörender Fremdschlüssel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Fremdschlüssel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Identifizierende 1:n – Beziehung</a:t>
            </a:r>
          </a:p>
          <a:p>
            <a:r>
              <a:rPr lang="de-DE" sz="1000" dirty="0">
                <a:latin typeface="Abadi" panose="020F0502020204030204" pitchFamily="34" charset="0"/>
              </a:rPr>
              <a:t>Nicht-Identifizierende 1:n – Beziehung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4D2DD23-A9D6-9763-C7C2-AA238090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640" y="5735052"/>
            <a:ext cx="99037" cy="1509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8D696D5-B104-BA34-C71C-8E52D06B3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674" y="6058137"/>
            <a:ext cx="138257" cy="13758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7D01DFF-2346-32FE-7682-BF6C5FE55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926" y="5897116"/>
            <a:ext cx="93751" cy="15176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CB00263-B3EB-A04D-68F8-B29A5F4AD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368391" y="6277242"/>
            <a:ext cx="104775" cy="28879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65E73E5-5F39-9383-AA09-2D793CB88F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407" y="6221024"/>
            <a:ext cx="280770" cy="10743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40A13D73-62C6-42FD-A162-D2D52C5875DC}"/>
              </a:ext>
            </a:extLst>
          </p:cNvPr>
          <p:cNvSpPr txBox="1"/>
          <p:nvPr/>
        </p:nvSpPr>
        <p:spPr>
          <a:xfrm>
            <a:off x="7184787" y="5489523"/>
            <a:ext cx="1057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u="sng" dirty="0">
                <a:latin typeface="Abadi" panose="020F0502020204030204" pitchFamily="34" charset="0"/>
              </a:rPr>
              <a:t>Legende</a:t>
            </a:r>
          </a:p>
        </p:txBody>
      </p:sp>
    </p:spTree>
    <p:extLst>
      <p:ext uri="{BB962C8B-B14F-4D97-AF65-F5344CB8AC3E}">
        <p14:creationId xmlns:p14="http://schemas.microsoft.com/office/powerpoint/2010/main" val="473888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B0396CB-3E3E-AA10-B300-467EE196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01" y="0"/>
            <a:ext cx="8227998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8609AB8-08BB-BB99-E90B-1DA05017516B}"/>
              </a:ext>
            </a:extLst>
          </p:cNvPr>
          <p:cNvSpPr txBox="1"/>
          <p:nvPr/>
        </p:nvSpPr>
        <p:spPr>
          <a:xfrm>
            <a:off x="7512352" y="5688699"/>
            <a:ext cx="29753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badi" panose="020F0502020204030204" pitchFamily="34" charset="0"/>
              </a:rPr>
              <a:t>Primärschlüssel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Zum Primärschlüssel gehörender Fremdschlüssel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Fremdschlüssel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Identifizierende 1:n – Beziehung</a:t>
            </a:r>
          </a:p>
          <a:p>
            <a:r>
              <a:rPr lang="de-DE" sz="1000" dirty="0">
                <a:latin typeface="Abadi" panose="020F0502020204030204" pitchFamily="34" charset="0"/>
              </a:rPr>
              <a:t>Nicht-Identifizierende 1:n – Beziehung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4D2DD23-A9D6-9763-C7C2-AA238090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640" y="5735052"/>
            <a:ext cx="99037" cy="1509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8D696D5-B104-BA34-C71C-8E52D06B3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674" y="6058137"/>
            <a:ext cx="138257" cy="13758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7D01DFF-2346-32FE-7682-BF6C5FE55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926" y="5897116"/>
            <a:ext cx="93751" cy="15176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CB00263-B3EB-A04D-68F8-B29A5F4AD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368391" y="6277242"/>
            <a:ext cx="104775" cy="28879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65E73E5-5F39-9383-AA09-2D793CB88F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407" y="6221024"/>
            <a:ext cx="280770" cy="10743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40A13D73-62C6-42FD-A162-D2D52C5875DC}"/>
              </a:ext>
            </a:extLst>
          </p:cNvPr>
          <p:cNvSpPr txBox="1"/>
          <p:nvPr/>
        </p:nvSpPr>
        <p:spPr>
          <a:xfrm>
            <a:off x="7184787" y="5489523"/>
            <a:ext cx="1057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u="sng" dirty="0">
                <a:latin typeface="Abadi" panose="020F0502020204030204" pitchFamily="34" charset="0"/>
              </a:rPr>
              <a:t>Legende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81AC29B-9146-81F1-C8A3-6506429FDC24}"/>
              </a:ext>
            </a:extLst>
          </p:cNvPr>
          <p:cNvCxnSpPr>
            <a:cxnSpLocks/>
          </p:cNvCxnSpPr>
          <p:nvPr/>
        </p:nvCxnSpPr>
        <p:spPr>
          <a:xfrm>
            <a:off x="6422065" y="0"/>
            <a:ext cx="0" cy="358317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9AD0539-617A-DC24-BA83-A7C014D3F5CD}"/>
              </a:ext>
            </a:extLst>
          </p:cNvPr>
          <p:cNvCxnSpPr>
            <a:cxnSpLocks/>
          </p:cNvCxnSpPr>
          <p:nvPr/>
        </p:nvCxnSpPr>
        <p:spPr>
          <a:xfrm flipH="1">
            <a:off x="6422065" y="3565451"/>
            <a:ext cx="195284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C37FF9A-8936-7481-EEB3-42109B25637E}"/>
              </a:ext>
            </a:extLst>
          </p:cNvPr>
          <p:cNvCxnSpPr>
            <a:cxnSpLocks/>
          </p:cNvCxnSpPr>
          <p:nvPr/>
        </p:nvCxnSpPr>
        <p:spPr>
          <a:xfrm>
            <a:off x="8374912" y="3565451"/>
            <a:ext cx="0" cy="212324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89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B0396CB-3E3E-AA10-B300-467EE196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01" y="0"/>
            <a:ext cx="8227998" cy="6858000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AB091597-EED6-2BEA-DF30-A529110A1E42}"/>
              </a:ext>
            </a:extLst>
          </p:cNvPr>
          <p:cNvSpPr/>
          <p:nvPr/>
        </p:nvSpPr>
        <p:spPr>
          <a:xfrm>
            <a:off x="6788592" y="6029607"/>
            <a:ext cx="126748" cy="126749"/>
          </a:xfrm>
          <a:prstGeom prst="ellips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070E48B-1B97-D8A0-BE9F-0D63B2FAEE4E}"/>
              </a:ext>
            </a:extLst>
          </p:cNvPr>
          <p:cNvSpPr/>
          <p:nvPr/>
        </p:nvSpPr>
        <p:spPr>
          <a:xfrm>
            <a:off x="5901351" y="3023856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5DCF269-50AD-74CD-D3D4-26A2FADF58C0}"/>
              </a:ext>
            </a:extLst>
          </p:cNvPr>
          <p:cNvSpPr/>
          <p:nvPr/>
        </p:nvSpPr>
        <p:spPr>
          <a:xfrm>
            <a:off x="6797645" y="6425697"/>
            <a:ext cx="126748" cy="126749"/>
          </a:xfrm>
          <a:prstGeom prst="ellips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DBAB769-7FEC-78EE-5241-919976CC51E3}"/>
              </a:ext>
            </a:extLst>
          </p:cNvPr>
          <p:cNvSpPr/>
          <p:nvPr/>
        </p:nvSpPr>
        <p:spPr>
          <a:xfrm>
            <a:off x="10028930" y="2000808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40519D7-1FBD-C444-5C9F-EB822EC2B3E8}"/>
              </a:ext>
            </a:extLst>
          </p:cNvPr>
          <p:cNvSpPr/>
          <p:nvPr/>
        </p:nvSpPr>
        <p:spPr>
          <a:xfrm>
            <a:off x="10028930" y="2585514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8F30C1A-F3BD-DBD2-EF0C-AE325D200937}"/>
              </a:ext>
            </a:extLst>
          </p:cNvPr>
          <p:cNvSpPr/>
          <p:nvPr/>
        </p:nvSpPr>
        <p:spPr>
          <a:xfrm>
            <a:off x="8207677" y="1056236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7F19E19-96EF-6A3E-1ADA-2F6E9BAFA31A}"/>
              </a:ext>
            </a:extLst>
          </p:cNvPr>
          <p:cNvSpPr/>
          <p:nvPr/>
        </p:nvSpPr>
        <p:spPr>
          <a:xfrm>
            <a:off x="8216730" y="1255412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3A0984C-CC3F-4539-2A33-B23B59261782}"/>
              </a:ext>
            </a:extLst>
          </p:cNvPr>
          <p:cNvSpPr/>
          <p:nvPr/>
        </p:nvSpPr>
        <p:spPr>
          <a:xfrm>
            <a:off x="10028930" y="2376532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AB2F57E-CB89-E60F-6123-386627E933F5}"/>
              </a:ext>
            </a:extLst>
          </p:cNvPr>
          <p:cNvSpPr/>
          <p:nvPr/>
        </p:nvSpPr>
        <p:spPr>
          <a:xfrm>
            <a:off x="10090797" y="4605198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EF29B6F-DCA3-5597-1238-7A08E3E35A74}"/>
              </a:ext>
            </a:extLst>
          </p:cNvPr>
          <p:cNvSpPr/>
          <p:nvPr/>
        </p:nvSpPr>
        <p:spPr>
          <a:xfrm>
            <a:off x="10096033" y="4790319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69943C0-8C00-36DC-353D-9168F6118758}"/>
              </a:ext>
            </a:extLst>
          </p:cNvPr>
          <p:cNvSpPr/>
          <p:nvPr/>
        </p:nvSpPr>
        <p:spPr>
          <a:xfrm>
            <a:off x="10094524" y="5153403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2D31B72-0258-5FB2-DEEE-6067DB2B04FA}"/>
              </a:ext>
            </a:extLst>
          </p:cNvPr>
          <p:cNvSpPr/>
          <p:nvPr/>
        </p:nvSpPr>
        <p:spPr>
          <a:xfrm>
            <a:off x="10096033" y="4964507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E1D12C7-06A9-161D-9C11-0A9FA4382527}"/>
              </a:ext>
            </a:extLst>
          </p:cNvPr>
          <p:cNvSpPr/>
          <p:nvPr/>
        </p:nvSpPr>
        <p:spPr>
          <a:xfrm>
            <a:off x="10128475" y="488877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683B671-7AF4-CFFF-3C02-7BBEAE48C5A8}"/>
              </a:ext>
            </a:extLst>
          </p:cNvPr>
          <p:cNvSpPr/>
          <p:nvPr/>
        </p:nvSpPr>
        <p:spPr>
          <a:xfrm>
            <a:off x="10128475" y="683523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F4287B1-2A84-106A-0B94-6E91B79BC173}"/>
              </a:ext>
            </a:extLst>
          </p:cNvPr>
          <p:cNvSpPr/>
          <p:nvPr/>
        </p:nvSpPr>
        <p:spPr>
          <a:xfrm>
            <a:off x="4650465" y="5828921"/>
            <a:ext cx="126748" cy="126749"/>
          </a:xfrm>
          <a:prstGeom prst="ellips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059DEE0-57DF-8448-2161-6FE4949BCE62}"/>
              </a:ext>
            </a:extLst>
          </p:cNvPr>
          <p:cNvSpPr/>
          <p:nvPr/>
        </p:nvSpPr>
        <p:spPr>
          <a:xfrm>
            <a:off x="4252112" y="701642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C052009F-3086-2283-0A64-CC8BCCA6B9FA}"/>
              </a:ext>
            </a:extLst>
          </p:cNvPr>
          <p:cNvSpPr/>
          <p:nvPr/>
        </p:nvSpPr>
        <p:spPr>
          <a:xfrm>
            <a:off x="3588900" y="3472007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8713730-10A4-D89D-01D6-264498BFAC20}"/>
              </a:ext>
            </a:extLst>
          </p:cNvPr>
          <p:cNvSpPr/>
          <p:nvPr/>
        </p:nvSpPr>
        <p:spPr>
          <a:xfrm>
            <a:off x="3588900" y="3671183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51DF42A-ABC6-CA10-F04D-A60FFB3D9BCC}"/>
              </a:ext>
            </a:extLst>
          </p:cNvPr>
          <p:cNvSpPr/>
          <p:nvPr/>
        </p:nvSpPr>
        <p:spPr>
          <a:xfrm>
            <a:off x="3588900" y="3870359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A18D991-F15C-DB39-2F61-0BA585A5B80F}"/>
              </a:ext>
            </a:extLst>
          </p:cNvPr>
          <p:cNvSpPr/>
          <p:nvPr/>
        </p:nvSpPr>
        <p:spPr>
          <a:xfrm>
            <a:off x="3597953" y="4069535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D4BEC6D7-4EF5-6D02-7863-2FA5DCABDF9D}"/>
              </a:ext>
            </a:extLst>
          </p:cNvPr>
          <p:cNvSpPr/>
          <p:nvPr/>
        </p:nvSpPr>
        <p:spPr>
          <a:xfrm>
            <a:off x="3597953" y="4259658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BDA24DD-4FB8-88F4-4650-4607A63822D0}"/>
              </a:ext>
            </a:extLst>
          </p:cNvPr>
          <p:cNvSpPr/>
          <p:nvPr/>
        </p:nvSpPr>
        <p:spPr>
          <a:xfrm>
            <a:off x="3597956" y="4451290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0AF48DB-6B4D-1C38-1AC7-B63A4629BE8B}"/>
              </a:ext>
            </a:extLst>
          </p:cNvPr>
          <p:cNvSpPr/>
          <p:nvPr/>
        </p:nvSpPr>
        <p:spPr>
          <a:xfrm>
            <a:off x="3597953" y="4650466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4D2061E2-9AAC-A52F-9B27-D9C81DBF011E}"/>
              </a:ext>
            </a:extLst>
          </p:cNvPr>
          <p:cNvSpPr/>
          <p:nvPr/>
        </p:nvSpPr>
        <p:spPr>
          <a:xfrm>
            <a:off x="3588900" y="3281128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AD2F6BA-B7CA-36D6-7B0C-A8E8E36BA737}"/>
              </a:ext>
            </a:extLst>
          </p:cNvPr>
          <p:cNvSpPr/>
          <p:nvPr/>
        </p:nvSpPr>
        <p:spPr>
          <a:xfrm>
            <a:off x="10092304" y="4404513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CD174417-8C2C-B046-2526-DCA9E1CE26F2}"/>
              </a:ext>
            </a:extLst>
          </p:cNvPr>
          <p:cNvSpPr/>
          <p:nvPr/>
        </p:nvSpPr>
        <p:spPr>
          <a:xfrm>
            <a:off x="10134465" y="292720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819ADFA-2270-FA81-E21A-4AB7BCBF74A9}"/>
              </a:ext>
            </a:extLst>
          </p:cNvPr>
          <p:cNvSpPr txBox="1"/>
          <p:nvPr/>
        </p:nvSpPr>
        <p:spPr>
          <a:xfrm>
            <a:off x="7512352" y="5688699"/>
            <a:ext cx="2975359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badi" panose="020F0502020204030204" pitchFamily="34" charset="0"/>
              </a:rPr>
              <a:t>Primärschlüssel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Zum Primärschlüssel gehörender Fremdschlüssel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Fremdschlüssel</a:t>
            </a:r>
          </a:p>
          <a:p>
            <a:r>
              <a:rPr lang="de-DE" sz="1000" dirty="0">
                <a:latin typeface="Abadi" panose="020F0502020204030204" pitchFamily="34" charset="0"/>
              </a:rPr>
              <a:t>Identifizierende 1:n – Beziehung</a:t>
            </a:r>
          </a:p>
          <a:p>
            <a:r>
              <a:rPr lang="de-DE" sz="1000" dirty="0">
                <a:latin typeface="Abadi" panose="020F0502020204030204" pitchFamily="34" charset="0"/>
              </a:rPr>
              <a:t>Nicht-Identifizierende 1:n – Beziehung</a:t>
            </a:r>
          </a:p>
          <a:p>
            <a:r>
              <a:rPr lang="de-DE" sz="1000" dirty="0">
                <a:latin typeface="Abadi" panose="020F0502020204030204" pitchFamily="34" charset="0"/>
              </a:rPr>
              <a:t>Nur in Mastodon enthalten</a:t>
            </a:r>
          </a:p>
          <a:p>
            <a:r>
              <a:rPr lang="de-DE" sz="1000" dirty="0">
                <a:latin typeface="Abadi" panose="020F0502020204030204" pitchFamily="34" charset="0"/>
              </a:rPr>
              <a:t>Nur in </a:t>
            </a:r>
            <a:r>
              <a:rPr lang="de-DE" sz="1000" dirty="0" err="1">
                <a:latin typeface="Abadi" panose="020F0502020204030204" pitchFamily="34" charset="0"/>
              </a:rPr>
              <a:t>BlueSky</a:t>
            </a:r>
            <a:r>
              <a:rPr lang="de-DE" sz="1000" dirty="0">
                <a:latin typeface="Abadi" panose="020F0502020204030204" pitchFamily="34" charset="0"/>
              </a:rPr>
              <a:t> enthalten</a:t>
            </a:r>
            <a:endParaRPr lang="de-DE" sz="11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04E62F2-26AD-AE31-06BA-B74A0C7DB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640" y="5735052"/>
            <a:ext cx="99037" cy="15094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DEDFA47-24F8-8C4F-D021-9894C7566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674" y="6058137"/>
            <a:ext cx="138257" cy="137589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39C0A6B-D8C3-2893-9683-883D14564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926" y="5897116"/>
            <a:ext cx="93751" cy="151769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10768E45-1AD6-AAE6-F15C-8DC8A1BA8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368391" y="6277242"/>
            <a:ext cx="104775" cy="288798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88EFB5-6812-FED9-AA2E-7D578BE5B9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407" y="6221024"/>
            <a:ext cx="280770" cy="107430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7E409D25-37DD-523B-6756-06F71EEF450C}"/>
              </a:ext>
            </a:extLst>
          </p:cNvPr>
          <p:cNvSpPr txBox="1"/>
          <p:nvPr/>
        </p:nvSpPr>
        <p:spPr>
          <a:xfrm>
            <a:off x="7184787" y="5489523"/>
            <a:ext cx="1057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u="sng" dirty="0">
                <a:latin typeface="Abadi" panose="020F0502020204030204" pitchFamily="34" charset="0"/>
              </a:rPr>
              <a:t>Legende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F864734A-B326-9353-BF8E-571147BAFB37}"/>
              </a:ext>
            </a:extLst>
          </p:cNvPr>
          <p:cNvSpPr/>
          <p:nvPr/>
        </p:nvSpPr>
        <p:spPr>
          <a:xfrm>
            <a:off x="7271632" y="6520807"/>
            <a:ext cx="126748" cy="12674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79B836EF-CC45-9DBB-A0D4-410DC230FF9A}"/>
              </a:ext>
            </a:extLst>
          </p:cNvPr>
          <p:cNvSpPr/>
          <p:nvPr/>
        </p:nvSpPr>
        <p:spPr>
          <a:xfrm>
            <a:off x="7270183" y="6665759"/>
            <a:ext cx="126748" cy="126749"/>
          </a:xfrm>
          <a:prstGeom prst="ellips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801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DE81803-5108-9B75-F71B-19FCE918D04F}"/>
              </a:ext>
            </a:extLst>
          </p:cNvPr>
          <p:cNvSpPr txBox="1"/>
          <p:nvPr/>
        </p:nvSpPr>
        <p:spPr>
          <a:xfrm>
            <a:off x="1391092" y="2715933"/>
            <a:ext cx="94098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b="1" dirty="0"/>
              <a:t>Vielen Dank für Ihre Aufmerksamkeit!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DD3919F-F007-5941-77A6-85AC5B1A9E90}"/>
              </a:ext>
            </a:extLst>
          </p:cNvPr>
          <p:cNvSpPr txBox="1"/>
          <p:nvPr/>
        </p:nvSpPr>
        <p:spPr>
          <a:xfrm>
            <a:off x="478465" y="4493406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Bachelorarbeit</a:t>
            </a:r>
          </a:p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der FSU Jena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00B535C-477E-5201-558E-B13A5BB4B39B}"/>
              </a:ext>
            </a:extLst>
          </p:cNvPr>
          <p:cNvSpPr txBox="1"/>
          <p:nvPr/>
        </p:nvSpPr>
        <p:spPr>
          <a:xfrm>
            <a:off x="9833414" y="4493406"/>
            <a:ext cx="2011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12. August 2024</a:t>
            </a:r>
          </a:p>
          <a:p>
            <a:r>
              <a:rPr lang="de-DE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Von Julia Boden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CC52008A-FABB-CDE6-282E-B1CCF1B6FA57}"/>
              </a:ext>
            </a:extLst>
          </p:cNvPr>
          <p:cNvCxnSpPr>
            <a:cxnSpLocks/>
          </p:cNvCxnSpPr>
          <p:nvPr/>
        </p:nvCxnSpPr>
        <p:spPr>
          <a:xfrm>
            <a:off x="574158" y="4440243"/>
            <a:ext cx="111322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0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973CAF8A-3EFD-0F2C-75D2-28054C1EE7F5}"/>
              </a:ext>
            </a:extLst>
          </p:cNvPr>
          <p:cNvSpPr txBox="1"/>
          <p:nvPr/>
        </p:nvSpPr>
        <p:spPr>
          <a:xfrm>
            <a:off x="507704" y="1372728"/>
            <a:ext cx="9327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Logo Mastodon: https://www.trustedreviews.com/explainer/what-is-mastodon-4280059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D957526-66E8-D7B1-C06F-004664B68FA6}"/>
              </a:ext>
            </a:extLst>
          </p:cNvPr>
          <p:cNvSpPr txBox="1"/>
          <p:nvPr/>
        </p:nvSpPr>
        <p:spPr>
          <a:xfrm>
            <a:off x="507704" y="531628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Bildquellen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6ADF960-535F-B4AD-16CC-0F1117F3A5F4}"/>
              </a:ext>
            </a:extLst>
          </p:cNvPr>
          <p:cNvSpPr txBox="1"/>
          <p:nvPr/>
        </p:nvSpPr>
        <p:spPr>
          <a:xfrm>
            <a:off x="507704" y="1936530"/>
            <a:ext cx="1006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Logo </a:t>
            </a:r>
            <a:r>
              <a:rPr lang="de-DE" dirty="0" err="1"/>
              <a:t>BlueSky</a:t>
            </a:r>
            <a:r>
              <a:rPr lang="de-DE" dirty="0"/>
              <a:t>: https://logowik.com/bluesky-social-logo-vector-62488.html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6C692CC-F74B-6307-55D0-95D5F03711B6}"/>
              </a:ext>
            </a:extLst>
          </p:cNvPr>
          <p:cNvSpPr txBox="1"/>
          <p:nvPr/>
        </p:nvSpPr>
        <p:spPr>
          <a:xfrm>
            <a:off x="507704" y="250033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Föderation Mastodon: https://mastodon.help/en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4BEFE58-6F10-6D84-FC81-2DFE24D218B6}"/>
              </a:ext>
            </a:extLst>
          </p:cNvPr>
          <p:cNvSpPr txBox="1"/>
          <p:nvPr/>
        </p:nvSpPr>
        <p:spPr>
          <a:xfrm>
            <a:off x="507704" y="2967888"/>
            <a:ext cx="9795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Überschwemmung Queensland: https://flickr.com/photos/salvationarmyihq/5332204099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EF09E5A-8DC8-AE42-0D28-72B39E80570B}"/>
              </a:ext>
            </a:extLst>
          </p:cNvPr>
          <p:cNvSpPr txBox="1"/>
          <p:nvPr/>
        </p:nvSpPr>
        <p:spPr>
          <a:xfrm>
            <a:off x="507703" y="5401914"/>
            <a:ext cx="105288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Zachlod</a:t>
            </a:r>
            <a:r>
              <a:rPr lang="de-DE" dirty="0"/>
              <a:t>, C. et al. (Mai 2022) Analytics </a:t>
            </a:r>
            <a:r>
              <a:rPr lang="de-DE" dirty="0" err="1"/>
              <a:t>of</a:t>
            </a:r>
            <a:r>
              <a:rPr lang="de-DE" dirty="0"/>
              <a:t> social </a:t>
            </a:r>
            <a:r>
              <a:rPr lang="de-DE" dirty="0" err="1"/>
              <a:t>media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- State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characteristics</a:t>
            </a:r>
            <a:r>
              <a:rPr lang="de-DE" dirty="0"/>
              <a:t> and </a:t>
            </a:r>
            <a:r>
              <a:rPr lang="de-DE" dirty="0" err="1"/>
              <a:t>application</a:t>
            </a:r>
            <a:r>
              <a:rPr lang="de-DE" dirty="0"/>
              <a:t>. </a:t>
            </a:r>
            <a:r>
              <a:rPr lang="de-DE" dirty="0" err="1"/>
              <a:t>ScienceDirect</a:t>
            </a:r>
            <a:r>
              <a:rPr lang="de-DE" dirty="0"/>
              <a:t>. Zu finden im Internet: \</a:t>
            </a:r>
            <a:r>
              <a:rPr lang="de-DE" dirty="0" err="1"/>
              <a:t>url</a:t>
            </a:r>
            <a:r>
              <a:rPr lang="de-DE" dirty="0"/>
              <a:t>{https://www.sciencedirect.com/science/article/pii/S0148296322001321} (Abrufdatum: 29.07.2024)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96F783D-A2AE-337B-0E6C-1FF7732A4399}"/>
              </a:ext>
            </a:extLst>
          </p:cNvPr>
          <p:cNvSpPr txBox="1"/>
          <p:nvPr/>
        </p:nvSpPr>
        <p:spPr>
          <a:xfrm>
            <a:off x="507703" y="3520781"/>
            <a:ext cx="8123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Mastodon-Beitrag: https://docs.joinmastodon.org/entities/Status/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FFED1DA-085C-E3D3-FBCA-A14907AF7475}"/>
              </a:ext>
            </a:extLst>
          </p:cNvPr>
          <p:cNvSpPr txBox="1"/>
          <p:nvPr/>
        </p:nvSpPr>
        <p:spPr>
          <a:xfrm>
            <a:off x="507704" y="4734661"/>
            <a:ext cx="1972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Sonstige</a:t>
            </a:r>
            <a:r>
              <a:rPr lang="de-DE" dirty="0"/>
              <a:t> </a:t>
            </a:r>
            <a:r>
              <a:rPr lang="de-DE" b="1" dirty="0"/>
              <a:t>Quellen</a:t>
            </a:r>
          </a:p>
        </p:txBody>
      </p:sp>
    </p:spTree>
    <p:extLst>
      <p:ext uri="{BB962C8B-B14F-4D97-AF65-F5344CB8AC3E}">
        <p14:creationId xmlns:p14="http://schemas.microsoft.com/office/powerpoint/2010/main" val="3762808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862</Words>
  <Application>Microsoft Office PowerPoint</Application>
  <PresentationFormat>Breitbild</PresentationFormat>
  <Paragraphs>193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Abadi</vt:lpstr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Boden</dc:creator>
  <cp:lastModifiedBy>Julia Boden</cp:lastModifiedBy>
  <cp:revision>278</cp:revision>
  <dcterms:created xsi:type="dcterms:W3CDTF">2024-08-07T16:43:11Z</dcterms:created>
  <dcterms:modified xsi:type="dcterms:W3CDTF">2024-08-12T07:18:34Z</dcterms:modified>
</cp:coreProperties>
</file>